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verage"/>
      <p:regular r:id="rId13"/>
    </p:embeddedFon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verag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3e941a6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3e941a6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3e941a6f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3e941a6f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e941a6f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3e941a6f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3e8cb9ae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3e8cb9ae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77c1ce2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777c1ce2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777c1ce2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777c1ce2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900"/>
              <a:t> Rutas en Internet</a:t>
            </a:r>
            <a:endParaRPr b="1" sz="4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/>
              <a:t>Estadísticamente complejos</a:t>
            </a:r>
            <a:endParaRPr sz="21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244200" y="4046100"/>
            <a:ext cx="2655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Brandon Arias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Alison Lobo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Sebastian Varela</a:t>
            </a:r>
            <a:endParaRPr/>
          </a:p>
        </p:txBody>
      </p:sp>
      <p:pic>
        <p:nvPicPr>
          <p:cNvPr id="61" name="Google Shape;61;p13" title="curv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25" y="2720900"/>
            <a:ext cx="2117800" cy="21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complejid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9975" y="2819550"/>
            <a:ext cx="1920500" cy="192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195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Diagrama generado por Claude</a:t>
            </a:r>
            <a:endParaRPr b="1"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525" y="817350"/>
            <a:ext cx="5088804" cy="407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155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Funcionalidad 1 — Detección de orígenes múltiples</a:t>
            </a:r>
            <a:endParaRPr b="1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17925" y="1804450"/>
            <a:ext cx="6942600" cy="3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/>
              <a:t>Estructura de datos propuesta </a:t>
            </a:r>
            <a:endParaRPr b="1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/>
              <a:t>Diccionario</a:t>
            </a:r>
            <a:r>
              <a:rPr lang="es-419" sz="1400"/>
              <a:t> con el prefijo como clave y los AS de origen como los datos de la clave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/>
              <a:t>as_origen_prefijo = {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/>
              <a:t>    "83.68.192.0/19": {44885},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/>
              <a:t>    "83.69.0.0/19":   {21191},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/>
              <a:t>    "163.178.0.0/16": {11816},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/>
              <a:t>    "8.8.8.0/24":     {15169, 64512}   ← Sospechoso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400"/>
              <a:t>}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17925" y="845800"/>
            <a:ext cx="7946700" cy="10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66"/>
              <a:t>Un prefijo debería tener un solo AS de origen. </a:t>
            </a:r>
            <a:r>
              <a:rPr lang="es-419" sz="1300">
                <a:solidFill>
                  <a:schemeClr val="lt2"/>
                </a:solidFill>
              </a:rPr>
              <a:t>→ El AS de origen es el </a:t>
            </a:r>
            <a:r>
              <a:rPr b="1" lang="es-419" sz="1300">
                <a:solidFill>
                  <a:schemeClr val="lt2"/>
                </a:solidFill>
              </a:rPr>
              <a:t>último</a:t>
            </a:r>
            <a:r>
              <a:rPr lang="es-419" sz="1300">
                <a:solidFill>
                  <a:schemeClr val="lt2"/>
                </a:solidFill>
              </a:rPr>
              <a:t> del AS Path:</a:t>
            </a:r>
            <a:endParaRPr sz="1566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566"/>
              <a:t>Dos o más → sospecha de prefix hijacking.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155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Funcionalidad 2: Consulta de un Sistema Autónomo (AS) </a:t>
            </a:r>
            <a:endParaRPr b="1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896200"/>
            <a:ext cx="37020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000"/>
              <a:t>Estructura propuesta: </a:t>
            </a:r>
            <a:r>
              <a:rPr b="1" lang="es-419" sz="6000"/>
              <a:t>Diccionario anidado</a:t>
            </a:r>
            <a:r>
              <a:rPr lang="es-419" sz="6000"/>
              <a:t> 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datos_por_as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│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└── AS: 53046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    │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    └── Peer IP: 177.101.16.80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        │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        └── Prefijo: 7.0.0.0/8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            │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            └── AS Path: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6000"/>
              <a:t>                [53046, 61626, 14840, 3356, 749]</a:t>
            </a:r>
            <a:endParaRPr sz="6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451225" y="1000400"/>
            <a:ext cx="4381200" cy="4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8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6"/>
              <a:buChar char="●"/>
            </a:pPr>
            <a:r>
              <a:rPr lang="es-419" sz="1566"/>
              <a:t>El AS funciona como llave principal.</a:t>
            </a:r>
            <a:endParaRPr sz="1566"/>
          </a:p>
          <a:p>
            <a:pPr indent="-328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6"/>
              <a:buChar char="●"/>
            </a:pPr>
            <a:r>
              <a:rPr lang="es-419" sz="1566"/>
              <a:t>Cada AS almacena sus Peer IP (aristas).</a:t>
            </a:r>
            <a:endParaRPr sz="1566"/>
          </a:p>
          <a:p>
            <a:pPr indent="-328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6"/>
              <a:buChar char="●"/>
            </a:pPr>
            <a:r>
              <a:rPr lang="es-419" sz="1566"/>
              <a:t>Cada Peer IP puede contener varios prefijos.</a:t>
            </a:r>
            <a:endParaRPr sz="1566"/>
          </a:p>
          <a:p>
            <a:pPr indent="-328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6"/>
              <a:buChar char="●"/>
            </a:pPr>
            <a:r>
              <a:rPr lang="es-419" sz="1566"/>
              <a:t>Para cada prefijo se almacena su AS Path.</a:t>
            </a:r>
            <a:endParaRPr sz="1566"/>
          </a:p>
          <a:p>
            <a:pPr indent="-3280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6"/>
              <a:buChar char="●"/>
            </a:pPr>
            <a:r>
              <a:rPr lang="es-419" sz="1566"/>
              <a:t>Permite acceder directamente a la información de un AS sin recorrer todos los registros.</a:t>
            </a:r>
            <a:endParaRPr sz="15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155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Funcionalidad 3: </a:t>
            </a:r>
            <a:r>
              <a:rPr b="1" lang="es-419"/>
              <a:t>Todas las rutas disponibles entre A y B</a:t>
            </a:r>
            <a:endParaRPr b="1"/>
          </a:p>
        </p:txBody>
      </p:sp>
      <p:sp>
        <p:nvSpPr>
          <p:cNvPr id="88" name="Google Shape;88;p17"/>
          <p:cNvSpPr/>
          <p:nvPr/>
        </p:nvSpPr>
        <p:spPr>
          <a:xfrm>
            <a:off x="569075" y="1330325"/>
            <a:ext cx="1152900" cy="1041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792524" y="1498425"/>
            <a:ext cx="706001" cy="705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2"/>
                </a:solidFill>
                <a:latin typeface="Arial"/>
              </a:rPr>
              <a:t>A</a:t>
            </a:r>
          </a:p>
        </p:txBody>
      </p:sp>
      <p:sp>
        <p:nvSpPr>
          <p:cNvPr id="90" name="Google Shape;90;p17"/>
          <p:cNvSpPr txBox="1"/>
          <p:nvPr/>
        </p:nvSpPr>
        <p:spPr>
          <a:xfrm>
            <a:off x="1862300" y="15742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s-419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51.159.192.0/20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517325" y="2746425"/>
            <a:ext cx="1152900" cy="1041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847627" y="2862664"/>
            <a:ext cx="595801" cy="8094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2"/>
                </a:solidFill>
                <a:latin typeface="Arial"/>
              </a:rPr>
              <a:t>B</a:t>
            </a:r>
          </a:p>
        </p:txBody>
      </p:sp>
      <p:sp>
        <p:nvSpPr>
          <p:cNvPr id="93" name="Google Shape;93;p17"/>
          <p:cNvSpPr txBox="1"/>
          <p:nvPr/>
        </p:nvSpPr>
        <p:spPr>
          <a:xfrm>
            <a:off x="1862300" y="30404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151.183.32.0/20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2333775" y="888225"/>
            <a:ext cx="13614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Prefijos</a:t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4572000" y="1725563"/>
            <a:ext cx="1448400" cy="251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572000" y="3191775"/>
            <a:ext cx="1448400" cy="2514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6510675" y="888225"/>
            <a:ext cx="24990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Sistema </a:t>
            </a:r>
            <a:r>
              <a:rPr lang="es-419"/>
              <a:t>autónomo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7208175" y="1574213"/>
            <a:ext cx="110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6057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7208175" y="2973913"/>
            <a:ext cx="110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24158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155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Funcionalidad 3: Todas las rutas disponibles entre A y B</a:t>
            </a:r>
            <a:endParaRPr b="1"/>
          </a:p>
        </p:txBody>
      </p:sp>
      <p:sp>
        <p:nvSpPr>
          <p:cNvPr id="105" name="Google Shape;105;p18"/>
          <p:cNvSpPr/>
          <p:nvPr/>
        </p:nvSpPr>
        <p:spPr>
          <a:xfrm>
            <a:off x="838250" y="1454625"/>
            <a:ext cx="710100" cy="641700"/>
          </a:xfrm>
          <a:prstGeom prst="ellipse">
            <a:avLst/>
          </a:prstGeom>
          <a:solidFill>
            <a:schemeClr val="dk1"/>
          </a:solidFill>
          <a:ln cap="flat" cmpd="sng" w="5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6325" lIns="56325" spcFirstLastPara="1" rIns="56325" wrap="square" tIns="56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2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975866" y="1558153"/>
            <a:ext cx="434805" cy="43460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58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2"/>
                </a:solidFill>
                <a:latin typeface="Arial"/>
              </a:rPr>
              <a:t>A</a:t>
            </a:r>
          </a:p>
        </p:txBody>
      </p:sp>
      <p:sp>
        <p:nvSpPr>
          <p:cNvPr id="107" name="Google Shape;107;p18"/>
          <p:cNvSpPr txBox="1"/>
          <p:nvPr/>
        </p:nvSpPr>
        <p:spPr>
          <a:xfrm>
            <a:off x="1766225" y="1498425"/>
            <a:ext cx="241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151.159.192.0/20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855625" y="2543700"/>
            <a:ext cx="675300" cy="610200"/>
          </a:xfrm>
          <a:prstGeom prst="ellipse">
            <a:avLst/>
          </a:prstGeom>
          <a:solidFill>
            <a:schemeClr val="dk1"/>
          </a:solidFill>
          <a:ln cap="flat" cmpd="sng" w="5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575" lIns="53575" spcFirstLastPara="1" rIns="53575" wrap="square" tIns="53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1049077" y="2611779"/>
            <a:ext cx="348949" cy="47406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557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accent2"/>
                </a:solidFill>
                <a:latin typeface="Arial"/>
              </a:rPr>
              <a:t>B</a:t>
            </a:r>
          </a:p>
        </p:txBody>
      </p:sp>
      <p:sp>
        <p:nvSpPr>
          <p:cNvPr id="110" name="Google Shape;110;p18"/>
          <p:cNvSpPr txBox="1"/>
          <p:nvPr/>
        </p:nvSpPr>
        <p:spPr>
          <a:xfrm>
            <a:off x="1776825" y="2571750"/>
            <a:ext cx="247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151.183.32.0/20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2141625" y="844425"/>
            <a:ext cx="13614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Prefijos</a:t>
            </a:r>
            <a:endParaRPr sz="2400"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3748050" y="909675"/>
            <a:ext cx="2499000" cy="4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Sistema autónomo</a:t>
            </a:r>
            <a:endParaRPr sz="2400"/>
          </a:p>
        </p:txBody>
      </p:sp>
      <p:sp>
        <p:nvSpPr>
          <p:cNvPr id="113" name="Google Shape;113;p18"/>
          <p:cNvSpPr txBox="1"/>
          <p:nvPr/>
        </p:nvSpPr>
        <p:spPr>
          <a:xfrm>
            <a:off x="4096300" y="1498425"/>
            <a:ext cx="110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6057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4020000" y="2543688"/>
            <a:ext cx="1104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24158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614900" y="3688800"/>
            <a:ext cx="40668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6057 3356 9924 24158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6057 1299 24158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6057 3356 1299 24158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748050" y="3155113"/>
            <a:ext cx="164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Paths</a:t>
            </a:r>
            <a:endParaRPr b="1" sz="3300">
              <a:solidFill>
                <a:schemeClr val="dk1"/>
              </a:solidFill>
            </a:endParaRPr>
          </a:p>
        </p:txBody>
      </p:sp>
      <p:pic>
        <p:nvPicPr>
          <p:cNvPr id="117" name="Google Shape;117;p18" title="diferentes-rut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6075" y="3311650"/>
            <a:ext cx="1735601" cy="173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155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Funcionalidad 3: Todas las rutas disponibles entre A y B</a:t>
            </a:r>
            <a:endParaRPr b="1"/>
          </a:p>
        </p:txBody>
      </p:sp>
      <p:sp>
        <p:nvSpPr>
          <p:cNvPr id="123" name="Google Shape;123;p19"/>
          <p:cNvSpPr txBox="1"/>
          <p:nvPr/>
        </p:nvSpPr>
        <p:spPr>
          <a:xfrm>
            <a:off x="271025" y="2062250"/>
            <a:ext cx="87846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vecinos  = {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“151.159.192.0/20-151.183.32.0/20”:  {6057 3356 9924 24158, 6057  1299 24158, 6057   3356 1299 24158}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90575" y="1095375"/>
            <a:ext cx="79455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Estructura de datos propuesta </a:t>
            </a:r>
            <a:endParaRPr b="1" sz="17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Diccionario con los dos prefijos como clave y las distintas rutas como los datos de la clave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